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"/>
  </p:notesMasterIdLst>
  <p:sldIdLst>
    <p:sldId id="256" r:id="rId2"/>
  </p:sldIdLst>
  <p:sldSz cx="21945600" cy="329184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326532" algn="l" rtl="0" eaLnBrk="0" fontAlgn="base" hangingPunct="0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653064" algn="l" rtl="0" eaLnBrk="0" fontAlgn="base" hangingPunct="0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979597" algn="l" rtl="0" eaLnBrk="0" fontAlgn="base" hangingPunct="0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306129" algn="l" rtl="0" eaLnBrk="0" fontAlgn="base" hangingPunct="0">
      <a:spcBef>
        <a:spcPct val="0"/>
      </a:spcBef>
      <a:spcAft>
        <a:spcPct val="0"/>
      </a:spcAft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1632661" algn="l" defTabSz="653064" rtl="0" eaLnBrk="1" latinLnBrk="0" hangingPunct="1"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1959193" algn="l" defTabSz="653064" rtl="0" eaLnBrk="1" latinLnBrk="0" hangingPunct="1"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2285726" algn="l" defTabSz="653064" rtl="0" eaLnBrk="1" latinLnBrk="0" hangingPunct="1"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2612258" algn="l" defTabSz="653064" rtl="0" eaLnBrk="1" latinLnBrk="0" hangingPunct="1">
      <a:defRPr sz="2143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637" userDrawn="1">
          <p15:clr>
            <a:srgbClr val="A4A3A4"/>
          </p15:clr>
        </p15:guide>
        <p15:guide id="2" orient="horz" pos="20285" userDrawn="1">
          <p15:clr>
            <a:srgbClr val="A4A3A4"/>
          </p15:clr>
        </p15:guide>
        <p15:guide id="3" pos="219" userDrawn="1">
          <p15:clr>
            <a:srgbClr val="A4A3A4"/>
          </p15:clr>
        </p15:guide>
        <p15:guide id="4" pos="6764" userDrawn="1">
          <p15:clr>
            <a:srgbClr val="A4A3A4"/>
          </p15:clr>
        </p15:guide>
        <p15:guide id="5" pos="7015" userDrawn="1">
          <p15:clr>
            <a:srgbClr val="A4A3A4"/>
          </p15:clr>
        </p15:guide>
        <p15:guide id="6" pos="13563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B35"/>
    <a:srgbClr val="F3F3F3"/>
    <a:srgbClr val="D9D9D9"/>
    <a:srgbClr val="FF9900"/>
    <a:srgbClr val="FF6600"/>
    <a:srgbClr val="F8F8F8"/>
    <a:srgbClr val="3399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3A5A7D-53BE-8633-B71D-F7A4533FD3CB}" v="2" dt="2026-04-17T15:39:19.691"/>
  </p1510:revLst>
</p1510:revInfo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9880" autoAdjust="0"/>
  </p:normalViewPr>
  <p:slideViewPr>
    <p:cSldViewPr snapToGrid="0" snapToObjects="1">
      <p:cViewPr>
        <p:scale>
          <a:sx n="33" d="100"/>
          <a:sy n="33" d="100"/>
        </p:scale>
        <p:origin x="-2242" y="322"/>
      </p:cViewPr>
      <p:guideLst>
        <p:guide orient="horz" pos="2637"/>
        <p:guide orient="horz" pos="20285"/>
        <p:guide pos="219"/>
        <p:guide pos="6764"/>
        <p:guide pos="7015"/>
        <p:guide pos="1356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-286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5f86736b-ef43-4992-9624-06dc6eeaf097::" providerId="AD" clId="Web-{583A5A7D-53BE-8633-B71D-F7A4533FD3CB}"/>
    <pc:docChg chg="modSld">
      <pc:chgData name="Guest User" userId="S::urn:spo:tenantanon#5f86736b-ef43-4992-9624-06dc6eeaf097::" providerId="AD" clId="Web-{583A5A7D-53BE-8633-B71D-F7A4533FD3CB}" dt="2026-04-17T15:39:19.691" v="1" actId="1076"/>
      <pc:docMkLst>
        <pc:docMk/>
      </pc:docMkLst>
      <pc:sldChg chg="modSp">
        <pc:chgData name="Guest User" userId="S::urn:spo:tenantanon#5f86736b-ef43-4992-9624-06dc6eeaf097::" providerId="AD" clId="Web-{583A5A7D-53BE-8633-B71D-F7A4533FD3CB}" dt="2026-04-17T15:39:19.691" v="1" actId="1076"/>
        <pc:sldMkLst>
          <pc:docMk/>
          <pc:sldMk cId="0" sldId="256"/>
        </pc:sldMkLst>
        <pc:picChg chg="mod">
          <ac:chgData name="Guest User" userId="S::urn:spo:tenantanon#5f86736b-ef43-4992-9624-06dc6eeaf097::" providerId="AD" clId="Web-{583A5A7D-53BE-8633-B71D-F7A4533FD3CB}" dt="2026-04-17T15:39:19.691" v="1" actId="1076"/>
          <ac:picMkLst>
            <pc:docMk/>
            <pc:sldMk cId="0" sldId="256"/>
            <ac:picMk id="6172" creationId="{BC7CC19C-50AB-2A74-86D2-E91312BB359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="" xmlns:a16="http://schemas.microsoft.com/office/drawing/2014/main" id="{7FCA482B-CB74-BBA1-68B4-C6934FA5735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1" name="Rectangle 3">
            <a:extLst>
              <a:ext uri="{FF2B5EF4-FFF2-40B4-BE49-F238E27FC236}">
                <a16:creationId xmlns="" xmlns:a16="http://schemas.microsoft.com/office/drawing/2014/main" id="{66085417-D0A5-F89C-4441-7B6FBF46467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="" xmlns:a16="http://schemas.microsoft.com/office/drawing/2014/main" id="{A6CFA34C-BB8F-68C8-4C78-5E0B756DC79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6000" y="685800"/>
            <a:ext cx="228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0533" name="Rectangle 5">
            <a:extLst>
              <a:ext uri="{FF2B5EF4-FFF2-40B4-BE49-F238E27FC236}">
                <a16:creationId xmlns="" xmlns:a16="http://schemas.microsoft.com/office/drawing/2014/main" id="{526B0B18-D2AD-5D8C-D2F9-2D5B55673D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0534" name="Rectangle 6">
            <a:extLst>
              <a:ext uri="{FF2B5EF4-FFF2-40B4-BE49-F238E27FC236}">
                <a16:creationId xmlns="" xmlns:a16="http://schemas.microsoft.com/office/drawing/2014/main" id="{7CF1F595-D860-7EDF-F48F-5E21B94CB46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0535" name="Rectangle 7">
            <a:extLst>
              <a:ext uri="{FF2B5EF4-FFF2-40B4-BE49-F238E27FC236}">
                <a16:creationId xmlns="" xmlns:a16="http://schemas.microsoft.com/office/drawing/2014/main" id="{FC2BB93C-7064-B390-42A1-D96A95FA34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6F5C3D6-BC89-4B00-927C-8439239595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4425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 charset="0"/>
        <a:ea typeface="+mn-ea"/>
        <a:cs typeface="+mn-cs"/>
      </a:defRPr>
    </a:lvl1pPr>
    <a:lvl2pPr marL="326532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 charset="0"/>
        <a:ea typeface="+mn-ea"/>
        <a:cs typeface="+mn-cs"/>
      </a:defRPr>
    </a:lvl2pPr>
    <a:lvl3pPr marL="653064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 charset="0"/>
        <a:ea typeface="+mn-ea"/>
        <a:cs typeface="+mn-cs"/>
      </a:defRPr>
    </a:lvl3pPr>
    <a:lvl4pPr marL="979597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 charset="0"/>
        <a:ea typeface="+mn-ea"/>
        <a:cs typeface="+mn-cs"/>
      </a:defRPr>
    </a:lvl4pPr>
    <a:lvl5pPr marL="1306129" algn="l" rtl="0" eaLnBrk="0" fontAlgn="base" hangingPunct="0">
      <a:spcBef>
        <a:spcPct val="30000"/>
      </a:spcBef>
      <a:spcAft>
        <a:spcPct val="0"/>
      </a:spcAft>
      <a:defRPr sz="857" kern="1200">
        <a:solidFill>
          <a:schemeClr val="tx1"/>
        </a:solidFill>
        <a:latin typeface="Arial" charset="0"/>
        <a:ea typeface="+mn-ea"/>
        <a:cs typeface="+mn-cs"/>
      </a:defRPr>
    </a:lvl5pPr>
    <a:lvl6pPr marL="1632661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959193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2285726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2612258" algn="l" defTabSz="65306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="" xmlns:a16="http://schemas.microsoft.com/office/drawing/2014/main" id="{3C00CBA7-2BB6-2070-5496-0175D7CB2C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9C440086-A90D-4DAF-9647-41DE282F406D}" type="slidenum">
              <a:rPr lang="en-US" altLang="en-US" sz="1200" smtClean="0">
                <a:latin typeface="Arial" panose="020B0604020202020204" pitchFamily="34" charset="0"/>
              </a:rPr>
              <a:pPr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="" xmlns:a16="http://schemas.microsoft.com/office/drawing/2014/main" id="{BA760889-489D-D031-0CD6-0403C93CF8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="" xmlns:a16="http://schemas.microsoft.com/office/drawing/2014/main" id="{405A8D46-E558-0D83-0368-76A3F1BD69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13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5">
            <a:extLst>
              <a:ext uri="{FF2B5EF4-FFF2-40B4-BE49-F238E27FC236}">
                <a16:creationId xmlns="" xmlns:a16="http://schemas.microsoft.com/office/drawing/2014/main" id="{AC56E57E-CAF3-26F8-FCC7-3AEDD45503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35784" y="3138839"/>
            <a:ext cx="10630957" cy="29167234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000"/>
          </a:p>
        </p:txBody>
      </p:sp>
      <p:sp>
        <p:nvSpPr>
          <p:cNvPr id="1027" name="Rectangle 36">
            <a:extLst>
              <a:ext uri="{FF2B5EF4-FFF2-40B4-BE49-F238E27FC236}">
                <a16:creationId xmlns="" xmlns:a16="http://schemas.microsoft.com/office/drawing/2014/main" id="{F4033884-55DB-32FB-E1C2-E9CD308F4D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1"/>
            <a:ext cx="21964103" cy="612326"/>
          </a:xfrm>
          <a:prstGeom prst="rect">
            <a:avLst/>
          </a:prstGeom>
          <a:solidFill>
            <a:srgbClr val="FF6600">
              <a:alpha val="65000"/>
            </a:srgbClr>
          </a:solidFill>
          <a:ln w="9525">
            <a:noFill/>
            <a:miter lim="800000"/>
            <a:headEnd/>
            <a:tailEnd/>
          </a:ln>
          <a:effectLst>
            <a:glow rad="63500">
              <a:srgbClr val="FFFF00">
                <a:alpha val="40000"/>
              </a:srgbClr>
            </a:glow>
            <a:softEdge rad="63500"/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 sz="1429"/>
          </a:p>
        </p:txBody>
      </p:sp>
      <p:sp>
        <p:nvSpPr>
          <p:cNvPr id="1030" name="Rectangle 33">
            <a:extLst>
              <a:ext uri="{FF2B5EF4-FFF2-40B4-BE49-F238E27FC236}">
                <a16:creationId xmlns="" xmlns:a16="http://schemas.microsoft.com/office/drawing/2014/main" id="{48E6884B-EE2F-63CB-E764-DDCCDA95026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78860" y="3138839"/>
            <a:ext cx="10793941" cy="2916723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000"/>
          </a:p>
        </p:txBody>
      </p:sp>
      <p:sp>
        <p:nvSpPr>
          <p:cNvPr id="1032" name="Rectangle 25">
            <a:extLst>
              <a:ext uri="{FF2B5EF4-FFF2-40B4-BE49-F238E27FC236}">
                <a16:creationId xmlns="" xmlns:a16="http://schemas.microsoft.com/office/drawing/2014/main" id="{741E351A-1B0F-8DCE-1618-5DCB2A0677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21945600" cy="32918400"/>
          </a:xfrm>
          <a:prstGeom prst="rect">
            <a:avLst/>
          </a:prstGeom>
          <a:noFill/>
          <a:ln w="3175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2000"/>
          </a:p>
        </p:txBody>
      </p:sp>
      <p:sp>
        <p:nvSpPr>
          <p:cNvPr id="2" name="Line 38">
            <a:extLst>
              <a:ext uri="{FF2B5EF4-FFF2-40B4-BE49-F238E27FC236}">
                <a16:creationId xmlns="" xmlns:a16="http://schemas.microsoft.com/office/drawing/2014/main" id="{26EA852F-2851-DA5B-B8B8-A3D940E04BF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2895603"/>
            <a:ext cx="21945600" cy="0"/>
          </a:xfrm>
          <a:prstGeom prst="line">
            <a:avLst/>
          </a:prstGeom>
          <a:noFill/>
          <a:ln w="304800">
            <a:solidFill>
              <a:schemeClr val="accent6">
                <a:lumMod val="90000"/>
                <a:lumOff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1429"/>
          </a:p>
        </p:txBody>
      </p:sp>
      <p:pic>
        <p:nvPicPr>
          <p:cNvPr id="1034" name="Picture 8" descr="images.jpg">
            <a:extLst>
              <a:ext uri="{FF2B5EF4-FFF2-40B4-BE49-F238E27FC236}">
                <a16:creationId xmlns="" xmlns:a16="http://schemas.microsoft.com/office/drawing/2014/main" id="{B2975350-32CB-3355-7D09-1D0524A30AE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4" y="628995"/>
            <a:ext cx="2194529" cy="2120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36">
            <a:extLst>
              <a:ext uri="{FF2B5EF4-FFF2-40B4-BE49-F238E27FC236}">
                <a16:creationId xmlns="" xmlns:a16="http://schemas.microsoft.com/office/drawing/2014/main" id="{B9F9CE48-0F57-8206-6BED-F24DA63C9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32551007"/>
            <a:ext cx="21964104" cy="474549"/>
          </a:xfrm>
          <a:prstGeom prst="rect">
            <a:avLst/>
          </a:prstGeom>
          <a:solidFill>
            <a:srgbClr val="FF6600">
              <a:alpha val="65000"/>
            </a:srgbClr>
          </a:solidFill>
          <a:ln w="9525">
            <a:noFill/>
            <a:miter lim="800000"/>
            <a:headEnd/>
            <a:tailEnd/>
          </a:ln>
          <a:effectLst>
            <a:glow rad="63500">
              <a:srgbClr val="FFFF00">
                <a:alpha val="40000"/>
              </a:srgbClr>
            </a:glow>
            <a:softEdge rad="63500"/>
          </a:effectLst>
        </p:spPr>
        <p:txBody>
          <a:bodyPr wrap="none" anchor="ctr"/>
          <a:lstStyle/>
          <a:p>
            <a:pPr eaLnBrk="1" hangingPunct="1">
              <a:defRPr/>
            </a:pPr>
            <a:endParaRPr lang="en-US" sz="1067"/>
          </a:p>
        </p:txBody>
      </p:sp>
      <p:sp>
        <p:nvSpPr>
          <p:cNvPr id="12" name="Line 38">
            <a:extLst>
              <a:ext uri="{FF2B5EF4-FFF2-40B4-BE49-F238E27FC236}">
                <a16:creationId xmlns="" xmlns:a16="http://schemas.microsoft.com/office/drawing/2014/main" id="{1C23914D-8BA9-E6B1-198E-F6A0D4B24D1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350" y="32549307"/>
            <a:ext cx="21945600" cy="0"/>
          </a:xfrm>
          <a:prstGeom prst="line">
            <a:avLst/>
          </a:prstGeom>
          <a:noFill/>
          <a:ln w="304800">
            <a:solidFill>
              <a:schemeClr val="accent6">
                <a:lumMod val="90000"/>
                <a:lumOff val="10000"/>
              </a:schemeClr>
            </a:solidFill>
            <a:round/>
            <a:headEnd/>
            <a:tailEnd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sz="1867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00" r:id="rId1"/>
  </p:sldLayoutIdLst>
  <p:txStyles>
    <p:titleStyle>
      <a:lvl1pPr algn="ctr" defTabSz="608572" rtl="0" eaLnBrk="0" fontAlgn="base" hangingPunct="0">
        <a:spcBef>
          <a:spcPct val="0"/>
        </a:spcBef>
        <a:spcAft>
          <a:spcPct val="0"/>
        </a:spcAft>
        <a:defRPr sz="5800" b="1">
          <a:solidFill>
            <a:srgbClr val="00274D"/>
          </a:solidFill>
          <a:latin typeface="+mn-lt"/>
          <a:ea typeface="+mj-ea"/>
          <a:cs typeface="+mj-cs"/>
        </a:defRPr>
      </a:lvl1pPr>
      <a:lvl2pPr algn="ctr" defTabSz="608572" rtl="0" eaLnBrk="0" fontAlgn="base" hangingPunct="0">
        <a:spcBef>
          <a:spcPct val="0"/>
        </a:spcBef>
        <a:spcAft>
          <a:spcPct val="0"/>
        </a:spcAft>
        <a:defRPr sz="5800" b="1">
          <a:solidFill>
            <a:srgbClr val="00274D"/>
          </a:solidFill>
          <a:latin typeface="Arial" charset="0"/>
        </a:defRPr>
      </a:lvl2pPr>
      <a:lvl3pPr algn="ctr" defTabSz="608572" rtl="0" eaLnBrk="0" fontAlgn="base" hangingPunct="0">
        <a:spcBef>
          <a:spcPct val="0"/>
        </a:spcBef>
        <a:spcAft>
          <a:spcPct val="0"/>
        </a:spcAft>
        <a:defRPr sz="5800" b="1">
          <a:solidFill>
            <a:srgbClr val="00274D"/>
          </a:solidFill>
          <a:latin typeface="Arial" charset="0"/>
        </a:defRPr>
      </a:lvl3pPr>
      <a:lvl4pPr algn="ctr" defTabSz="608572" rtl="0" eaLnBrk="0" fontAlgn="base" hangingPunct="0">
        <a:spcBef>
          <a:spcPct val="0"/>
        </a:spcBef>
        <a:spcAft>
          <a:spcPct val="0"/>
        </a:spcAft>
        <a:defRPr sz="5800" b="1">
          <a:solidFill>
            <a:srgbClr val="00274D"/>
          </a:solidFill>
          <a:latin typeface="Arial" charset="0"/>
        </a:defRPr>
      </a:lvl4pPr>
      <a:lvl5pPr algn="ctr" defTabSz="608572" rtl="0" eaLnBrk="0" fontAlgn="base" hangingPunct="0">
        <a:spcBef>
          <a:spcPct val="0"/>
        </a:spcBef>
        <a:spcAft>
          <a:spcPct val="0"/>
        </a:spcAft>
        <a:defRPr sz="5800" b="1">
          <a:solidFill>
            <a:srgbClr val="00274D"/>
          </a:solidFill>
          <a:latin typeface="Arial" charset="0"/>
        </a:defRPr>
      </a:lvl5pPr>
      <a:lvl6pPr marL="304815" algn="ctr" defTabSz="608572" rtl="0" fontAlgn="base">
        <a:spcBef>
          <a:spcPct val="0"/>
        </a:spcBef>
        <a:spcAft>
          <a:spcPct val="0"/>
        </a:spcAft>
        <a:defRPr sz="5800">
          <a:solidFill>
            <a:srgbClr val="FFFFFF"/>
          </a:solidFill>
          <a:latin typeface="Arial Black" pitchFamily="34" charset="0"/>
        </a:defRPr>
      </a:lvl6pPr>
      <a:lvl7pPr marL="609630" algn="ctr" defTabSz="608572" rtl="0" fontAlgn="base">
        <a:spcBef>
          <a:spcPct val="0"/>
        </a:spcBef>
        <a:spcAft>
          <a:spcPct val="0"/>
        </a:spcAft>
        <a:defRPr sz="5800">
          <a:solidFill>
            <a:srgbClr val="FFFFFF"/>
          </a:solidFill>
          <a:latin typeface="Arial Black" pitchFamily="34" charset="0"/>
        </a:defRPr>
      </a:lvl7pPr>
      <a:lvl8pPr marL="914446" algn="ctr" defTabSz="608572" rtl="0" fontAlgn="base">
        <a:spcBef>
          <a:spcPct val="0"/>
        </a:spcBef>
        <a:spcAft>
          <a:spcPct val="0"/>
        </a:spcAft>
        <a:defRPr sz="5800">
          <a:solidFill>
            <a:srgbClr val="FFFFFF"/>
          </a:solidFill>
          <a:latin typeface="Arial Black" pitchFamily="34" charset="0"/>
        </a:defRPr>
      </a:lvl8pPr>
      <a:lvl9pPr marL="1219261" algn="ctr" defTabSz="608572" rtl="0" fontAlgn="base">
        <a:spcBef>
          <a:spcPct val="0"/>
        </a:spcBef>
        <a:spcAft>
          <a:spcPct val="0"/>
        </a:spcAft>
        <a:defRPr sz="5800">
          <a:solidFill>
            <a:srgbClr val="FFFFFF"/>
          </a:solidFill>
          <a:latin typeface="Arial Black" pitchFamily="34" charset="0"/>
        </a:defRPr>
      </a:lvl9pPr>
    </p:titleStyle>
    <p:bodyStyle>
      <a:lvl1pPr marL="227553" indent="-227553" algn="l" defTabSz="608572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93208" indent="-187335" algn="l" defTabSz="608572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760980" indent="-152408" algn="l" defTabSz="608572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66853" indent="-152408" algn="l" defTabSz="608572" rtl="0" eaLnBrk="0" fontAlgn="base" hangingPunct="0">
        <a:spcBef>
          <a:spcPct val="20000"/>
        </a:spcBef>
        <a:spcAft>
          <a:spcPct val="0"/>
        </a:spcAft>
        <a:buChar char="–"/>
        <a:defRPr sz="1333">
          <a:solidFill>
            <a:schemeClr val="tx1"/>
          </a:solidFill>
          <a:latin typeface="+mn-lt"/>
        </a:defRPr>
      </a:lvl4pPr>
      <a:lvl5pPr marL="1372727" indent="-153466" algn="l" defTabSz="608572" rtl="0" eaLnBrk="0" fontAlgn="base" hangingPunct="0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+mn-lt"/>
        </a:defRPr>
      </a:lvl5pPr>
      <a:lvl6pPr marL="1677543" indent="-153466" algn="l" defTabSz="608572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+mn-lt"/>
        </a:defRPr>
      </a:lvl6pPr>
      <a:lvl7pPr marL="1982358" indent="-153466" algn="l" defTabSz="608572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+mn-lt"/>
        </a:defRPr>
      </a:lvl7pPr>
      <a:lvl8pPr marL="2287173" indent="-153466" algn="l" defTabSz="608572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+mn-lt"/>
        </a:defRPr>
      </a:lvl8pPr>
      <a:lvl9pPr marL="2591988" indent="-153466" algn="l" defTabSz="608572" rtl="0" fontAlgn="base">
        <a:spcBef>
          <a:spcPct val="20000"/>
        </a:spcBef>
        <a:spcAft>
          <a:spcPct val="0"/>
        </a:spcAft>
        <a:buChar char="»"/>
        <a:defRPr sz="1333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7">
            <a:extLst>
              <a:ext uri="{FF2B5EF4-FFF2-40B4-BE49-F238E27FC236}">
                <a16:creationId xmlns="" xmlns:a16="http://schemas.microsoft.com/office/drawing/2014/main" id="{11DBE877-BBCD-9FBE-366E-57323A3D30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824" y="3230490"/>
            <a:ext cx="10647891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Aims and Objectives</a:t>
            </a:r>
          </a:p>
        </p:txBody>
      </p:sp>
      <p:sp>
        <p:nvSpPr>
          <p:cNvPr id="6147" name="Text Box 14">
            <a:extLst>
              <a:ext uri="{FF2B5EF4-FFF2-40B4-BE49-F238E27FC236}">
                <a16:creationId xmlns="" xmlns:a16="http://schemas.microsoft.com/office/drawing/2014/main" id="{56181A01-BD0E-F172-1BB8-A592C622AF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107" y="3920135"/>
            <a:ext cx="10389658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/>
              <a:t>To design and develop a low-cost </a:t>
            </a:r>
            <a:r>
              <a:rPr lang="en-US" sz="3200" dirty="0" err="1"/>
              <a:t>Arduino</a:t>
            </a:r>
            <a:r>
              <a:rPr lang="en-US" sz="3200" dirty="0"/>
              <a:t>-based RADAR </a:t>
            </a:r>
            <a:r>
              <a:rPr lang="en-US" sz="3200" dirty="0" smtClean="0"/>
              <a:t>system.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detect objects within a short-range environment (2–400 cm) </a:t>
            </a:r>
            <a:r>
              <a:rPr lang="en-US" sz="3200" dirty="0" smtClean="0"/>
              <a:t>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measure object distance with acceptable </a:t>
            </a:r>
            <a:r>
              <a:rPr lang="en-US" sz="3200" dirty="0" smtClean="0"/>
              <a:t>accuracy.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visualize detected objects using angle-based </a:t>
            </a:r>
            <a:r>
              <a:rPr lang="en-US" sz="3200" dirty="0" smtClean="0"/>
              <a:t>scanning.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To </a:t>
            </a:r>
            <a:r>
              <a:rPr lang="en-US" sz="3200" dirty="0"/>
              <a:t>implement an alert system using a buzzer for nearby objects</a:t>
            </a:r>
            <a:endParaRPr lang="en-US" altLang="en-US" sz="3067" b="1" dirty="0"/>
          </a:p>
        </p:txBody>
      </p:sp>
      <p:sp>
        <p:nvSpPr>
          <p:cNvPr id="6148" name="Text Box 351">
            <a:extLst>
              <a:ext uri="{FF2B5EF4-FFF2-40B4-BE49-F238E27FC236}">
                <a16:creationId xmlns="" xmlns:a16="http://schemas.microsoft.com/office/drawing/2014/main" id="{58BA2A5B-A8D5-5DD3-CBA9-AB1EC0471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20" y="6460219"/>
            <a:ext cx="10624608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Methodology for Achieving Goal </a:t>
            </a:r>
          </a:p>
        </p:txBody>
      </p:sp>
      <p:sp>
        <p:nvSpPr>
          <p:cNvPr id="6150" name="Text Box 353">
            <a:extLst>
              <a:ext uri="{FF2B5EF4-FFF2-40B4-BE49-F238E27FC236}">
                <a16:creationId xmlns="" xmlns:a16="http://schemas.microsoft.com/office/drawing/2014/main" id="{E325031E-DBF3-C22E-EA15-32F9F3C4C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0324" y="27635321"/>
            <a:ext cx="10503051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References</a:t>
            </a:r>
          </a:p>
        </p:txBody>
      </p:sp>
      <p:sp>
        <p:nvSpPr>
          <p:cNvPr id="6151" name="Text Box 349">
            <a:extLst>
              <a:ext uri="{FF2B5EF4-FFF2-40B4-BE49-F238E27FC236}">
                <a16:creationId xmlns="" xmlns:a16="http://schemas.microsoft.com/office/drawing/2014/main" id="{463685F2-9B14-FE06-C3CA-FC07E53D2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838" y="18157080"/>
            <a:ext cx="10579553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Simulation Results</a:t>
            </a:r>
          </a:p>
        </p:txBody>
      </p:sp>
      <p:sp>
        <p:nvSpPr>
          <p:cNvPr id="6152" name="Text Box 349">
            <a:extLst>
              <a:ext uri="{FF2B5EF4-FFF2-40B4-BE49-F238E27FC236}">
                <a16:creationId xmlns="" xmlns:a16="http://schemas.microsoft.com/office/drawing/2014/main" id="{7BA4E8EE-72C9-A5F9-4934-5CD07216D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29522" y="25545321"/>
            <a:ext cx="10478255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Acknowledgement</a:t>
            </a:r>
          </a:p>
        </p:txBody>
      </p:sp>
      <p:sp>
        <p:nvSpPr>
          <p:cNvPr id="6154" name="Text Box 7">
            <a:extLst>
              <a:ext uri="{FF2B5EF4-FFF2-40B4-BE49-F238E27FC236}">
                <a16:creationId xmlns="" xmlns:a16="http://schemas.microsoft.com/office/drawing/2014/main" id="{4CAEF671-9E53-8067-B6B1-3E5551BBE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1036" y="3238956"/>
            <a:ext cx="10476741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Designed Prototype</a:t>
            </a:r>
          </a:p>
        </p:txBody>
      </p:sp>
      <p:sp>
        <p:nvSpPr>
          <p:cNvPr id="6155" name="Text Box 349">
            <a:extLst>
              <a:ext uri="{FF2B5EF4-FFF2-40B4-BE49-F238E27FC236}">
                <a16:creationId xmlns="" xmlns:a16="http://schemas.microsoft.com/office/drawing/2014/main" id="{3483EC59-8B85-8464-5B37-C77D5E991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8002" y="19322135"/>
            <a:ext cx="10431991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Conclusion and Future Works</a:t>
            </a:r>
          </a:p>
        </p:txBody>
      </p:sp>
      <p:sp>
        <p:nvSpPr>
          <p:cNvPr id="6156" name="Rectangle 22">
            <a:extLst>
              <a:ext uri="{FF2B5EF4-FFF2-40B4-BE49-F238E27FC236}">
                <a16:creationId xmlns="" xmlns:a16="http://schemas.microsoft.com/office/drawing/2014/main" id="{7B1C4395-9C47-E9CB-0294-B2EA24AA7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3309" y="19924183"/>
            <a:ext cx="109728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altLang="en-US" sz="2000"/>
              <a:t/>
            </a:r>
            <a:br>
              <a:rPr lang="en-US" altLang="en-US" sz="2000"/>
            </a:br>
            <a:endParaRPr lang="en-US" altLang="en-US" sz="2000"/>
          </a:p>
        </p:txBody>
      </p:sp>
      <p:sp>
        <p:nvSpPr>
          <p:cNvPr id="6174" name="Text Box 349">
            <a:extLst>
              <a:ext uri="{FF2B5EF4-FFF2-40B4-BE49-F238E27FC236}">
                <a16:creationId xmlns="" xmlns:a16="http://schemas.microsoft.com/office/drawing/2014/main" id="{0A68BDB5-755E-DD6A-A63F-E31807D5A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161" y="23622198"/>
            <a:ext cx="10601325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Mathematical Model       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="" xmlns:a16="http://schemas.microsoft.com/office/drawing/2014/main" id="{BFC81D58-276B-BDF3-9457-48740275D8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240" y="781667"/>
            <a:ext cx="19996636" cy="1689932"/>
          </a:xfrm>
          <a:prstGeom prst="rect">
            <a:avLst/>
          </a:prstGeom>
          <a:noFill/>
          <a:ln>
            <a:noFill/>
          </a:ln>
          <a:effectLst/>
        </p:spPr>
        <p:txBody>
          <a:bodyPr lIns="60836" tIns="30411" rIns="60836" bIns="30411" anchor="t"/>
          <a:lstStyle>
            <a:lvl1pPr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>
              <a:defRPr/>
            </a:pPr>
            <a:r>
              <a:rPr lang="en-US" sz="4000" b="1" dirty="0" smtClean="0"/>
              <a:t>  Development </a:t>
            </a:r>
            <a:r>
              <a:rPr lang="en-US" sz="4000" b="1" dirty="0"/>
              <a:t>of an </a:t>
            </a:r>
            <a:r>
              <a:rPr lang="en-US" sz="4000" b="1" dirty="0" err="1"/>
              <a:t>Arduino</a:t>
            </a:r>
            <a:r>
              <a:rPr lang="en-US" sz="4000" b="1" dirty="0"/>
              <a:t>-Based RADAR System for Object Detection and Distance Measurement</a:t>
            </a:r>
            <a:endParaRPr lang="en-US" sz="4000" b="1" dirty="0">
              <a:solidFill>
                <a:srgbClr val="00274D"/>
              </a:solidFill>
              <a:latin typeface="Arial" charset="0"/>
            </a:endParaRPr>
          </a:p>
          <a:p>
            <a:pPr algn="ctr">
              <a:defRPr/>
            </a:pPr>
            <a:r>
              <a:rPr lang="en-US" sz="2950" b="1" dirty="0"/>
              <a:t>MD. Abdullah </a:t>
            </a:r>
            <a:r>
              <a:rPr lang="en-US" sz="2950" b="1" dirty="0" err="1"/>
              <a:t>Anas</a:t>
            </a:r>
            <a:r>
              <a:rPr lang="en-US" sz="2950" b="1" dirty="0"/>
              <a:t>, </a:t>
            </a:r>
            <a:r>
              <a:rPr lang="en-US" sz="2950" b="1" dirty="0" err="1" smtClean="0"/>
              <a:t>Abul</a:t>
            </a:r>
            <a:r>
              <a:rPr lang="en-US" sz="2950" b="1" dirty="0" smtClean="0"/>
              <a:t> </a:t>
            </a:r>
            <a:r>
              <a:rPr lang="en-US" sz="2950" b="1" dirty="0"/>
              <a:t>Bashar </a:t>
            </a:r>
            <a:r>
              <a:rPr lang="en-US" sz="2950" b="1" dirty="0" err="1" smtClean="0"/>
              <a:t>Saurov</a:t>
            </a:r>
            <a:r>
              <a:rPr lang="en-US" sz="2950" b="1" dirty="0" smtClean="0"/>
              <a:t>, MD</a:t>
            </a:r>
            <a:r>
              <a:rPr lang="en-US" sz="2950" b="1" dirty="0"/>
              <a:t>. </a:t>
            </a:r>
            <a:r>
              <a:rPr lang="en-US" sz="2950" b="1" dirty="0" err="1"/>
              <a:t>Samiul</a:t>
            </a:r>
            <a:r>
              <a:rPr lang="en-US" sz="2950" b="1" dirty="0"/>
              <a:t> </a:t>
            </a:r>
            <a:r>
              <a:rPr lang="en-US" sz="2950" b="1" dirty="0" err="1"/>
              <a:t>Alim</a:t>
            </a:r>
            <a:r>
              <a:rPr lang="en-US" sz="2950" b="1" dirty="0"/>
              <a:t> </a:t>
            </a:r>
            <a:r>
              <a:rPr lang="en-US" sz="2950" b="1" dirty="0" err="1" smtClean="0"/>
              <a:t>Safayet</a:t>
            </a:r>
            <a:r>
              <a:rPr lang="en-US" sz="2950" b="1" dirty="0" smtClean="0"/>
              <a:t>, </a:t>
            </a:r>
            <a:r>
              <a:rPr lang="en-US" sz="2950" b="1" dirty="0" err="1"/>
              <a:t>Lubna</a:t>
            </a:r>
            <a:r>
              <a:rPr lang="en-US" sz="2950" b="1" dirty="0"/>
              <a:t> </a:t>
            </a:r>
            <a:r>
              <a:rPr lang="en-US" sz="2950" b="1" dirty="0" err="1" smtClean="0"/>
              <a:t>Akhter</a:t>
            </a:r>
            <a:r>
              <a:rPr lang="en-US" sz="2950" b="1" dirty="0" smtClean="0"/>
              <a:t>, </a:t>
            </a:r>
            <a:r>
              <a:rPr lang="en-US" sz="2950" b="1" dirty="0"/>
              <a:t>Osama </a:t>
            </a:r>
            <a:r>
              <a:rPr lang="en-US" sz="2950" b="1" dirty="0" err="1"/>
              <a:t>Mobin</a:t>
            </a:r>
            <a:r>
              <a:rPr lang="en-US" sz="2950" b="1" dirty="0"/>
              <a:t> </a:t>
            </a:r>
            <a:r>
              <a:rPr lang="en-US" sz="2950" b="1" dirty="0" err="1" smtClean="0"/>
              <a:t>Zuhar</a:t>
            </a:r>
            <a:r>
              <a:rPr lang="en-US" sz="2950" b="1" baseline="30000" dirty="0"/>
              <a:t> </a:t>
            </a:r>
            <a:r>
              <a:rPr lang="en-US" sz="2950" b="1" dirty="0" smtClean="0"/>
              <a:t>and </a:t>
            </a:r>
            <a:r>
              <a:rPr lang="en-US" sz="2950" b="1" dirty="0" err="1"/>
              <a:t>Muhibul</a:t>
            </a:r>
            <a:r>
              <a:rPr lang="en-US" sz="2950" b="1" dirty="0"/>
              <a:t> </a:t>
            </a:r>
            <a:r>
              <a:rPr lang="en-US" sz="2950" b="1" dirty="0" err="1"/>
              <a:t>Haque</a:t>
            </a:r>
            <a:r>
              <a:rPr lang="en-US" sz="2950" b="1" dirty="0"/>
              <a:t> </a:t>
            </a:r>
            <a:r>
              <a:rPr lang="en-US" sz="2950" b="1" dirty="0" err="1" smtClean="0"/>
              <a:t>Bhuyan</a:t>
            </a:r>
            <a:endParaRPr lang="en-US" sz="2950" b="1" dirty="0">
              <a:solidFill>
                <a:srgbClr val="00274D"/>
              </a:solidFill>
              <a:latin typeface="Arial" charset="0"/>
            </a:endParaRPr>
          </a:p>
          <a:p>
            <a:pPr algn="ctr">
              <a:defRPr/>
            </a:pPr>
            <a:r>
              <a:rPr lang="en-US" sz="2950" b="1" dirty="0" smtClean="0"/>
              <a:t>American </a:t>
            </a:r>
            <a:r>
              <a:rPr lang="en-US" sz="2950" b="1" dirty="0"/>
              <a:t>International University-Bangladesh (AIUB), Dhaka, Bangladesh</a:t>
            </a:r>
            <a:endParaRPr lang="en-US" sz="2950" b="1" dirty="0">
              <a:solidFill>
                <a:srgbClr val="00274D"/>
              </a:solidFill>
              <a:latin typeface="Arial" charset="0"/>
            </a:endParaRPr>
          </a:p>
          <a:p>
            <a:pPr algn="ctr">
              <a:defRPr/>
            </a:pPr>
            <a:endParaRPr lang="en-US" sz="2933" b="1" dirty="0">
              <a:solidFill>
                <a:srgbClr val="00274D"/>
              </a:solidFill>
              <a:latin typeface="Arial" charset="0"/>
            </a:endParaRPr>
          </a:p>
          <a:p>
            <a:pPr algn="ctr">
              <a:defRPr/>
            </a:pPr>
            <a:endParaRPr lang="en-US" sz="5800" b="1" dirty="0">
              <a:solidFill>
                <a:srgbClr val="00274D"/>
              </a:solidFill>
              <a:latin typeface="Arial" charset="0"/>
            </a:endParaRPr>
          </a:p>
        </p:txBody>
      </p:sp>
      <p:sp>
        <p:nvSpPr>
          <p:cNvPr id="2" name="Rectangle 15">
            <a:extLst>
              <a:ext uri="{FF2B5EF4-FFF2-40B4-BE49-F238E27FC236}">
                <a16:creationId xmlns="" xmlns:a16="http://schemas.microsoft.com/office/drawing/2014/main" id="{1F400BF5-4B12-2E26-4BE4-EA745D11D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91" y="98262"/>
            <a:ext cx="21945600" cy="525461"/>
          </a:xfrm>
          <a:prstGeom prst="rect">
            <a:avLst/>
          </a:prstGeom>
          <a:noFill/>
          <a:ln>
            <a:noFill/>
          </a:ln>
          <a:effectLst/>
        </p:spPr>
        <p:txBody>
          <a:bodyPr lIns="60836" tIns="30411" rIns="60836" bIns="30411" anchor="t"/>
          <a:lstStyle>
            <a:lvl1pPr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defTabSz="912813" eaLnBrk="0" hangingPunct="0">
              <a:defRPr sz="30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 algn="ctr">
              <a:defRPr/>
            </a:pPr>
            <a:r>
              <a:rPr lang="en-US" sz="2933" b="1" dirty="0">
                <a:solidFill>
                  <a:srgbClr val="00274D"/>
                </a:solidFill>
                <a:latin typeface="Arial" charset="0"/>
              </a:rPr>
              <a:t>Paper ID </a:t>
            </a:r>
            <a:r>
              <a:rPr lang="en-US" sz="2933" b="1" dirty="0" smtClean="0">
                <a:solidFill>
                  <a:srgbClr val="00274D"/>
                </a:solidFill>
                <a:latin typeface="Arial" charset="0"/>
              </a:rPr>
              <a:t># 13</a:t>
            </a:r>
            <a:endParaRPr lang="en-US" sz="2933" b="1" dirty="0">
              <a:solidFill>
                <a:srgbClr val="00274D"/>
              </a:solidFill>
              <a:latin typeface="Arial" charset="0"/>
            </a:endParaRPr>
          </a:p>
          <a:p>
            <a:pPr algn="ctr">
              <a:defRPr/>
            </a:pPr>
            <a:endParaRPr lang="en-US" sz="4400" b="1" dirty="0">
              <a:solidFill>
                <a:srgbClr val="00274D"/>
              </a:solidFill>
              <a:latin typeface="Arial" charset="0"/>
            </a:endParaRPr>
          </a:p>
        </p:txBody>
      </p:sp>
      <p:sp>
        <p:nvSpPr>
          <p:cNvPr id="3" name="Text Box 14">
            <a:extLst>
              <a:ext uri="{FF2B5EF4-FFF2-40B4-BE49-F238E27FC236}">
                <a16:creationId xmlns="" xmlns:a16="http://schemas.microsoft.com/office/drawing/2014/main" id="{F016305D-F2DA-AD74-F7FA-0FE3F7C68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520" y="7044088"/>
            <a:ext cx="10389658" cy="3939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/>
              <a:t>Hardware components: </a:t>
            </a:r>
            <a:r>
              <a:rPr lang="en-US" sz="3200" dirty="0" err="1"/>
              <a:t>Arduino</a:t>
            </a:r>
            <a:r>
              <a:rPr lang="en-US" sz="3200" dirty="0"/>
              <a:t> Uno, HC-SR04 ultrasonic sensor, servo </a:t>
            </a:r>
            <a:r>
              <a:rPr lang="en-US" sz="3200" dirty="0" smtClean="0"/>
              <a:t>motor, led, buzzer.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smtClean="0"/>
              <a:t>System </a:t>
            </a:r>
            <a:r>
              <a:rPr lang="en-US" sz="3200" dirty="0"/>
              <a:t>powered using a 9V </a:t>
            </a:r>
            <a:r>
              <a:rPr lang="en-US" sz="3200" dirty="0" smtClean="0"/>
              <a:t>battery.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smtClean="0"/>
              <a:t>Servo </a:t>
            </a:r>
            <a:r>
              <a:rPr lang="en-US" sz="3200" dirty="0"/>
              <a:t>motor rotates sensor from 0° to 180° </a:t>
            </a:r>
            <a:r>
              <a:rPr lang="en-US" sz="3200" dirty="0" smtClean="0"/>
              <a:t>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smtClean="0"/>
              <a:t>Ultrasonic </a:t>
            </a:r>
            <a:r>
              <a:rPr lang="en-US" sz="3200" dirty="0"/>
              <a:t>sensor sends and receives echo </a:t>
            </a:r>
            <a:r>
              <a:rPr lang="en-US" sz="3200" dirty="0" smtClean="0"/>
              <a:t>signals.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smtClean="0"/>
              <a:t>Distance </a:t>
            </a:r>
            <a:r>
              <a:rPr lang="en-US" sz="3200" dirty="0"/>
              <a:t>calculated using time-of-flight </a:t>
            </a:r>
            <a:r>
              <a:rPr lang="en-US" sz="3200" dirty="0" smtClean="0"/>
              <a:t>principle.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err="1" smtClean="0"/>
              <a:t>Arduino</a:t>
            </a:r>
            <a:r>
              <a:rPr lang="en-US" sz="3200" dirty="0" smtClean="0"/>
              <a:t> </a:t>
            </a:r>
            <a:r>
              <a:rPr lang="en-US" sz="3200" dirty="0"/>
              <a:t>processes data and sends output to </a:t>
            </a:r>
            <a:r>
              <a:rPr lang="en-US" sz="3200" dirty="0" smtClean="0"/>
              <a:t>IDE/Processing.</a:t>
            </a:r>
          </a:p>
          <a:p>
            <a:pPr marL="514350" indent="-514350" algn="just">
              <a:buFont typeface="Arial" pitchFamily="34" charset="0"/>
              <a:buChar char="•"/>
            </a:pPr>
            <a:r>
              <a:rPr lang="en-US" sz="3200" dirty="0" smtClean="0"/>
              <a:t>Buzzer </a:t>
            </a:r>
            <a:r>
              <a:rPr lang="en-US" sz="3200" dirty="0"/>
              <a:t>activates when object is detected within threshold </a:t>
            </a:r>
            <a:r>
              <a:rPr lang="en-US" sz="3200" dirty="0" smtClean="0"/>
              <a:t>distance</a:t>
            </a:r>
            <a:endParaRPr lang="en-US" altLang="en-US" sz="3200" b="1" dirty="0" smtClean="0"/>
          </a:p>
        </p:txBody>
      </p:sp>
      <p:sp>
        <p:nvSpPr>
          <p:cNvPr id="8" name="Text Box 14">
            <a:extLst>
              <a:ext uri="{FF2B5EF4-FFF2-40B4-BE49-F238E27FC236}">
                <a16:creationId xmlns="" xmlns:a16="http://schemas.microsoft.com/office/drawing/2014/main" id="{CB2532F1-7DEE-C1CC-B189-995CBBF2AF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577" y="4097576"/>
            <a:ext cx="10389658" cy="2934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/>
              <a:t>Compact hardware setup using </a:t>
            </a:r>
            <a:r>
              <a:rPr lang="en-US" sz="3200" dirty="0" err="1"/>
              <a:t>Arduino</a:t>
            </a:r>
            <a:r>
              <a:rPr lang="en-US" sz="3200" dirty="0"/>
              <a:t> </a:t>
            </a:r>
            <a:r>
              <a:rPr lang="en-US" sz="3200" dirty="0" smtClean="0"/>
              <a:t>Uno.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Sensor </a:t>
            </a:r>
            <a:r>
              <a:rPr lang="en-US" sz="3200" dirty="0"/>
              <a:t>mounted on rotating servo </a:t>
            </a:r>
            <a:r>
              <a:rPr lang="en-US" sz="3200" dirty="0" smtClean="0"/>
              <a:t>motor.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Real-time </a:t>
            </a:r>
            <a:r>
              <a:rPr lang="en-US" sz="3200" dirty="0"/>
              <a:t>scanning of </a:t>
            </a:r>
            <a:r>
              <a:rPr lang="en-US" sz="3200" dirty="0" smtClean="0"/>
              <a:t>surroundings.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Visual </a:t>
            </a:r>
            <a:r>
              <a:rPr lang="en-US" sz="3200" dirty="0"/>
              <a:t>output displayed on computer </a:t>
            </a:r>
            <a:r>
              <a:rPr lang="en-US" sz="3200" dirty="0" smtClean="0"/>
              <a:t>screen.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Audio </a:t>
            </a:r>
            <a:r>
              <a:rPr lang="en-US" sz="3200" dirty="0"/>
              <a:t>alert system integrated with buzzer</a:t>
            </a:r>
            <a:endParaRPr lang="en-US" altLang="en-US" sz="3200" b="1" dirty="0"/>
          </a:p>
          <a:p>
            <a:pPr algn="just"/>
            <a:endParaRPr lang="en-US" altLang="en-US" sz="3067" b="1" dirty="0"/>
          </a:p>
        </p:txBody>
      </p:sp>
      <p:sp>
        <p:nvSpPr>
          <p:cNvPr id="9" name="Text Box 349">
            <a:extLst>
              <a:ext uri="{FF2B5EF4-FFF2-40B4-BE49-F238E27FC236}">
                <a16:creationId xmlns="" xmlns:a16="http://schemas.microsoft.com/office/drawing/2014/main" id="{677CC587-517E-6680-5077-1334D571FC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31036" y="13508547"/>
            <a:ext cx="10505925" cy="553858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0836" tIns="30411" rIns="60836" bIns="30411">
            <a:spAutoFit/>
          </a:bodyPr>
          <a:lstStyle>
            <a:lvl1pPr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12813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3200" b="1" dirty="0">
                <a:solidFill>
                  <a:srgbClr val="F8F8F8"/>
                </a:solidFill>
              </a:rPr>
              <a:t>Data Table/Experimental Design</a:t>
            </a:r>
          </a:p>
        </p:txBody>
      </p:sp>
      <p:sp>
        <p:nvSpPr>
          <p:cNvPr id="13" name="Text Box 14">
            <a:extLst>
              <a:ext uri="{FF2B5EF4-FFF2-40B4-BE49-F238E27FC236}">
                <a16:creationId xmlns="" xmlns:a16="http://schemas.microsoft.com/office/drawing/2014/main" id="{CC589622-F9A9-E257-FA0F-9AF6348D1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58324" y="19945788"/>
            <a:ext cx="10389658" cy="5416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/>
            <a:r>
              <a:rPr lang="en-US" sz="3200" b="1" dirty="0" smtClean="0"/>
              <a:t>Conclusion:</a:t>
            </a:r>
            <a:endParaRPr lang="en-US" sz="3200" b="1" dirty="0"/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Developed </a:t>
            </a:r>
            <a:r>
              <a:rPr lang="en-US" sz="3200" dirty="0"/>
              <a:t>a functional low-cost RADAR </a:t>
            </a:r>
            <a:r>
              <a:rPr lang="en-US" sz="3200" dirty="0" smtClean="0"/>
              <a:t>system.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Achieved </a:t>
            </a:r>
            <a:r>
              <a:rPr lang="en-US" sz="3200" dirty="0"/>
              <a:t>reliable short-range object </a:t>
            </a:r>
            <a:r>
              <a:rPr lang="en-US" sz="3200" dirty="0" smtClean="0"/>
              <a:t>detection.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System </a:t>
            </a:r>
            <a:r>
              <a:rPr lang="en-US" sz="3200" dirty="0"/>
              <a:t>is simple, scalable, and </a:t>
            </a:r>
            <a:r>
              <a:rPr lang="en-US" sz="3200" dirty="0" smtClean="0"/>
              <a:t>efficient.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Suitable </a:t>
            </a:r>
            <a:r>
              <a:rPr lang="en-US" sz="3200" dirty="0"/>
              <a:t>for educational and basic automation </a:t>
            </a:r>
            <a:r>
              <a:rPr lang="en-US" sz="3200" dirty="0" smtClean="0"/>
              <a:t>purposes</a:t>
            </a:r>
          </a:p>
          <a:p>
            <a:pPr algn="just"/>
            <a:r>
              <a:rPr lang="en-US" altLang="en-US" sz="3200" b="1" dirty="0" smtClean="0"/>
              <a:t>Future Works: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/>
              <a:t>Use multiple sensors for 360° </a:t>
            </a:r>
            <a:r>
              <a:rPr lang="en-US" sz="3200" dirty="0" smtClean="0"/>
              <a:t>coverage.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Improve </a:t>
            </a:r>
            <a:r>
              <a:rPr lang="en-US" sz="3200" dirty="0"/>
              <a:t>detection range using advanced </a:t>
            </a:r>
            <a:r>
              <a:rPr lang="en-US" sz="3200" dirty="0" smtClean="0"/>
              <a:t>sensors.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Integrate </a:t>
            </a:r>
            <a:r>
              <a:rPr lang="en-US" sz="3200" dirty="0"/>
              <a:t>wireless communication (</a:t>
            </a:r>
            <a:r>
              <a:rPr lang="en-US" sz="3200" dirty="0" err="1" smtClean="0"/>
              <a:t>IoT</a:t>
            </a:r>
            <a:r>
              <a:rPr lang="en-US" sz="3200" dirty="0" smtClean="0"/>
              <a:t>).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Apply </a:t>
            </a:r>
            <a:r>
              <a:rPr lang="en-US" sz="3200" dirty="0"/>
              <a:t>in autonomous vehicles or smart security </a:t>
            </a:r>
            <a:r>
              <a:rPr lang="en-US" sz="3200" dirty="0" smtClean="0"/>
              <a:t>systems.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sz="3200" dirty="0" smtClean="0"/>
              <a:t>Enhance </a:t>
            </a:r>
            <a:r>
              <a:rPr lang="en-US" sz="3200" dirty="0"/>
              <a:t>visualization with better UI</a:t>
            </a:r>
            <a:endParaRPr lang="en-US" altLang="en-US" sz="3067" b="1" dirty="0"/>
          </a:p>
        </p:txBody>
      </p:sp>
      <p:sp>
        <p:nvSpPr>
          <p:cNvPr id="15" name="Text Box 14">
            <a:extLst>
              <a:ext uri="{FF2B5EF4-FFF2-40B4-BE49-F238E27FC236}">
                <a16:creationId xmlns="" xmlns:a16="http://schemas.microsoft.com/office/drawing/2014/main" id="{1027B7B8-69CF-A1A0-4CEB-D6803A2DE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577" y="26404022"/>
            <a:ext cx="10389658" cy="12312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algn="just"/>
            <a:r>
              <a:rPr lang="en-US" altLang="en-US" sz="2667" dirty="0"/>
              <a:t>The authors of this paper recognize the contribution of the American International University-Bangladesh for their financial support for purchasing the necessary tool for the Lab under the EEE Department and for providing the conference grant.</a:t>
            </a:r>
            <a:endParaRPr lang="en-US" altLang="en-US" sz="2667" b="1" dirty="0"/>
          </a:p>
        </p:txBody>
      </p:sp>
      <p:sp>
        <p:nvSpPr>
          <p:cNvPr id="17" name="Text Box 14">
            <a:extLst>
              <a:ext uri="{FF2B5EF4-FFF2-40B4-BE49-F238E27FC236}">
                <a16:creationId xmlns="" xmlns:a16="http://schemas.microsoft.com/office/drawing/2014/main" id="{83C2C1DA-80F4-ED1F-2582-475CDC3405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577" y="28250725"/>
            <a:ext cx="10389658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r>
              <a:rPr lang="en-US" sz="2400" dirty="0"/>
              <a:t>[1] A. D. </a:t>
            </a:r>
            <a:r>
              <a:rPr lang="en-US" sz="2400" dirty="0" err="1"/>
              <a:t>Droitcour</a:t>
            </a:r>
            <a:r>
              <a:rPr lang="en-US" sz="2400" dirty="0"/>
              <a:t> et al., IEEE Transactions on Microwave Theory and Techniques, 52(3), 838–848, (2004).</a:t>
            </a:r>
          </a:p>
          <a:p>
            <a:r>
              <a:rPr lang="en-US" sz="2400" dirty="0"/>
              <a:t>[2] C. Li et al., IEEE Transactions on Microwave Theory and Techniques, 58(5), 1410-1419, (2010).</a:t>
            </a:r>
          </a:p>
          <a:p>
            <a:r>
              <a:rPr lang="en-US" sz="2400" dirty="0"/>
              <a:t>[3] G. T. </a:t>
            </a:r>
            <a:r>
              <a:rPr lang="en-US" sz="2400" dirty="0" err="1"/>
              <a:t>Bharathy</a:t>
            </a:r>
            <a:r>
              <a:rPr lang="en-US" sz="2400" dirty="0"/>
              <a:t> et al., International Journal of Scientific Research in Science, Engineering, and Technology, 9(8), 38-47, (2021).</a:t>
            </a:r>
          </a:p>
          <a:p>
            <a:r>
              <a:rPr lang="en-US" sz="2400" dirty="0"/>
              <a:t>[4] N. Zhu et al., International Radar Conference (IET IRC 2020), 96-101, (2021).</a:t>
            </a:r>
          </a:p>
          <a:p>
            <a:r>
              <a:rPr lang="en-US" sz="2400" dirty="0"/>
              <a:t>[5] N. K. Paul et al., Journal of Engineering Research and Reports, 24(11), 1-13, (2023).</a:t>
            </a:r>
          </a:p>
          <a:p>
            <a:r>
              <a:rPr lang="en-US" sz="2400" dirty="0"/>
              <a:t>[6] M. U. Islam et al., Turkish Journal of Computer and Mathematics Education, 15(3), 25-34, (2024). </a:t>
            </a:r>
          </a:p>
        </p:txBody>
      </p:sp>
      <p:pic>
        <p:nvPicPr>
          <p:cNvPr id="25" name="Picture 24"/>
          <p:cNvPicPr/>
          <p:nvPr/>
        </p:nvPicPr>
        <p:blipFill rotWithShape="1">
          <a:blip r:embed="rId3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97"/>
          <a:stretch>
            <a:fillRect/>
          </a:stretch>
        </p:blipFill>
        <p:spPr bwMode="auto">
          <a:xfrm>
            <a:off x="337231" y="18928084"/>
            <a:ext cx="10496247" cy="464989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324" y="6773669"/>
            <a:ext cx="10282161" cy="6589870"/>
          </a:xfrm>
          <a:prstGeom prst="rect">
            <a:avLst/>
          </a:prstGeom>
        </p:spPr>
      </p:pic>
      <p:pic>
        <p:nvPicPr>
          <p:cNvPr id="1026" name="Picture 2" descr="C:\Users\Dell\Downloads\arduino_radar_block_diagram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437" y="10955544"/>
            <a:ext cx="9268998" cy="708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 Box 14">
                <a:extLst>
                  <a:ext uri="{FF2B5EF4-FFF2-40B4-BE49-F238E27FC236}">
                    <a16:creationId xmlns:a16="http://schemas.microsoft.com/office/drawing/2014/main" xmlns="" id="{B46112A9-7FAE-BA06-8784-E3BDD2678E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524" y="24584992"/>
                <a:ext cx="10669663" cy="7571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>
                <a:lvl1pPr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0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 smtClean="0"/>
                  <a:t>Distance Calculation (Time-of-Flight):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n-US" altLang="en-US" sz="3200" dirty="0" smtClean="0"/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/>
                  <a:t>Practical Formula (cm): </a:t>
                </a:r>
                <a:r>
                  <a:rPr lang="en-US" sz="3200" dirty="0" smtClean="0"/>
                  <a:t> 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n-US" sz="3200" dirty="0" smtClean="0"/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/>
                  <a:t>Angle </a:t>
                </a:r>
                <a:r>
                  <a:rPr lang="en-US" sz="3200" dirty="0" smtClean="0"/>
                  <a:t>Measurement: 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n-US" sz="3200" dirty="0" smtClean="0"/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/>
                  <a:t>Position Mapping (Polar → Cartesian</a:t>
                </a:r>
                <a:r>
                  <a:rPr lang="en-US" sz="3200" dirty="0" smtClean="0"/>
                  <a:t>):</a:t>
                </a:r>
              </a:p>
              <a:p>
                <a:pPr algn="just"/>
                <a:r>
                  <a:rPr lang="en-US" sz="3200" dirty="0" smtClean="0"/>
                  <a:t> 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/>
                  <a:t>Error Calculation</a:t>
                </a:r>
                <a:r>
                  <a:rPr lang="en-US" sz="3200" dirty="0" smtClean="0"/>
                  <a:t>:</a:t>
                </a:r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n-US" sz="3200" dirty="0" smtClean="0"/>
              </a:p>
              <a:p>
                <a:pPr marL="457200" indent="-457200" algn="just">
                  <a:buFont typeface="Arial" pitchFamily="34" charset="0"/>
                  <a:buChar char="•"/>
                </a:pPr>
                <a:r>
                  <a:rPr lang="en-US" sz="3200" dirty="0"/>
                  <a:t>Accuracy </a:t>
                </a:r>
                <a:r>
                  <a:rPr lang="en-US" sz="3200" dirty="0" smtClean="0"/>
                  <a:t>(%):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 </m:t>
                    </m:r>
                  </m:oMath>
                </a14:m>
                <a:endParaRPr lang="en-US" altLang="en-US" sz="2800" b="1" dirty="0" smtClean="0"/>
              </a:p>
              <a:p>
                <a:pPr marL="457200" indent="-457200" algn="just">
                  <a:buFont typeface="Arial" pitchFamily="34" charset="0"/>
                  <a:buChar char="•"/>
                </a:pPr>
                <a:endParaRPr lang="en-US" altLang="en-US" sz="2800" b="1" dirty="0"/>
              </a:p>
              <a:p>
                <a:r>
                  <a:rPr lang="en-US" sz="2800" dirty="0" smtClean="0"/>
                  <a:t>                             </a:t>
                </a:r>
                <a:endParaRPr lang="en-US" sz="2800" dirty="0"/>
              </a:p>
              <a:p>
                <a:r>
                  <a:rPr lang="en-US" sz="2800" dirty="0" smtClean="0"/>
                  <a:t> </a:t>
                </a:r>
              </a:p>
              <a:p>
                <a:endParaRPr lang="en-US" sz="2800" dirty="0" smtClean="0"/>
              </a:p>
              <a:p>
                <a:endParaRPr lang="en-US" altLang="en-US" sz="2800" b="1" dirty="0"/>
              </a:p>
            </p:txBody>
          </p:sp>
        </mc:Choice>
        <mc:Fallback xmlns="">
          <p:sp>
            <p:nvSpPr>
              <p:cNvPr id="26" name="Text 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46112A9-7FAE-BA06-8784-E3BDD2678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524" y="24584992"/>
                <a:ext cx="10669663" cy="7571303"/>
              </a:xfrm>
              <a:prstGeom prst="rect">
                <a:avLst/>
              </a:prstGeom>
              <a:blipFill rotWithShape="1">
                <a:blip r:embed="rId6"/>
                <a:stretch>
                  <a:fillRect l="-2286" t="-1691" b="-18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02403"/>
              </p:ext>
            </p:extLst>
          </p:nvPr>
        </p:nvGraphicFramePr>
        <p:xfrm>
          <a:off x="11429998" y="14294560"/>
          <a:ext cx="9829800" cy="463352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965960"/>
                <a:gridCol w="1965960"/>
                <a:gridCol w="1965960"/>
                <a:gridCol w="1965960"/>
                <a:gridCol w="1965960"/>
              </a:tblGrid>
              <a:tr h="514836">
                <a:tc>
                  <a:txBody>
                    <a:bodyPr/>
                    <a:lstStyle/>
                    <a:p>
                      <a:r>
                        <a:rPr lang="en-US" dirty="0"/>
                        <a:t>Trial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Actual Distance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Measured Distance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Error (cm)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 (%)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98%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99%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99.3%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99%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98.8%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98.6%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98.5%</a:t>
                      </a:r>
                    </a:p>
                  </a:txBody>
                  <a:tcPr anchor="ctr"/>
                </a:tc>
              </a:tr>
              <a:tr h="514836">
                <a:tc>
                  <a:txBody>
                    <a:bodyPr/>
                    <a:lstStyle/>
                    <a:p>
                      <a:r>
                        <a:rPr lang="en-US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99.2%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39537" y="24483726"/>
                <a:ext cx="1600310" cy="8690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/>
                      </a:rPr>
                      <m:t>𝑑</m:t>
                    </m:r>
                    <m:r>
                      <a:rPr lang="en-US" sz="360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3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/>
                          </a:rPr>
                          <m:t>𝑣</m:t>
                        </m:r>
                        <m:r>
                          <a:rPr lang="en-US" sz="3600" b="0" i="1" smtClean="0">
                            <a:latin typeface="Cambria Math"/>
                          </a:rPr>
                          <m:t>. </m:t>
                        </m:r>
                        <m:r>
                          <a:rPr lang="en-US" sz="3600" b="0" i="1" smtClean="0">
                            <a:latin typeface="Cambria Math"/>
                          </a:rPr>
                          <m:t>𝑡</m:t>
                        </m:r>
                      </m:num>
                      <m:den>
                        <m:r>
                          <a:rPr lang="en-US" sz="360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3600" dirty="0" smtClean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537" y="24483726"/>
                <a:ext cx="1600310" cy="869020"/>
              </a:xfrm>
              <a:prstGeom prst="rect">
                <a:avLst/>
              </a:prstGeom>
              <a:blipFill rotWithShape="1">
                <a:blip r:embed="rId7"/>
                <a:stretch>
                  <a:fillRect r="-17176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477777" y="27469485"/>
                <a:ext cx="22223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/>
                      </a:rPr>
                      <m:t>𝑥</m:t>
                    </m:r>
                    <m:r>
                      <a:rPr lang="en-US" sz="3200" i="1" smtClean="0">
                        <a:latin typeface="Cambria Math"/>
                      </a:rPr>
                      <m:t>=</m:t>
                    </m:r>
                    <m:r>
                      <a:rPr lang="en-US" sz="3200" b="0" i="1" smtClean="0">
                        <a:latin typeface="Cambria Math"/>
                      </a:rPr>
                      <m:t>𝑑</m:t>
                    </m:r>
                    <m:r>
                      <a:rPr lang="en-US" sz="3200" b="0" i="1" smtClean="0">
                        <a:latin typeface="Cambria Math"/>
                      </a:rPr>
                      <m:t> </m:t>
                    </m:r>
                    <m:r>
                      <a:rPr lang="en-US" sz="3200" b="0" i="1" smtClean="0">
                        <a:latin typeface="Cambria Math"/>
                      </a:rPr>
                      <m:t>𝑐𝑜𝑠</m:t>
                    </m:r>
                    <m:r>
                      <a:rPr lang="en-US" sz="3200" b="0" i="1" smtClean="0"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sz="3200" dirty="0" smtClean="0"/>
                  <a:t>,</a:t>
                </a:r>
                <a:endParaRPr lang="en-US" sz="3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777" y="27469485"/>
                <a:ext cx="2222340" cy="584775"/>
              </a:xfrm>
              <a:prstGeom prst="rect">
                <a:avLst/>
              </a:prstGeom>
              <a:blipFill rotWithShape="1">
                <a:blip r:embed="rId8"/>
                <a:stretch>
                  <a:fillRect t="-13542" r="-1016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329006" y="25364553"/>
                <a:ext cx="2555636" cy="8728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b="0" i="1" smtClean="0">
                        <a:latin typeface="Cambria Math"/>
                      </a:rPr>
                      <m:t>𝑑</m:t>
                    </m:r>
                    <m:r>
                      <a:rPr lang="en-US" sz="3600" b="0" i="1" smtClean="0">
                        <a:latin typeface="Cambria Math"/>
                      </a:rPr>
                      <m:t>(</m:t>
                    </m:r>
                    <m:r>
                      <a:rPr lang="en-US" sz="3600" b="0" i="1" smtClean="0">
                        <a:latin typeface="Cambria Math"/>
                      </a:rPr>
                      <m:t>𝑐𝑚</m:t>
                    </m:r>
                    <m:r>
                      <a:rPr lang="en-US" sz="3600" b="0" i="1" smtClean="0">
                        <a:latin typeface="Cambria Math"/>
                      </a:rPr>
                      <m:t>)=</m:t>
                    </m:r>
                    <m:f>
                      <m:fPr>
                        <m:ctrlPr>
                          <a:rPr lang="en-US" sz="36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/>
                          </a:rPr>
                          <m:t>𝑡</m:t>
                        </m:r>
                      </m:num>
                      <m:den>
                        <m:r>
                          <a:rPr lang="en-US" sz="3600" b="0" i="1" smtClean="0">
                            <a:latin typeface="Cambria Math"/>
                          </a:rPr>
                          <m:t>58</m:t>
                        </m:r>
                      </m:den>
                    </m:f>
                  </m:oMath>
                </a14:m>
                <a:r>
                  <a:rPr lang="en-US" sz="3600" dirty="0" smtClean="0"/>
                  <a:t> </a:t>
                </a:r>
                <a:endParaRPr lang="en-US" sz="36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9006" y="25364553"/>
                <a:ext cx="2555636" cy="872868"/>
              </a:xfrm>
              <a:prstGeom prst="rect">
                <a:avLst/>
              </a:prstGeom>
              <a:blipFill rotWithShape="1">
                <a:blip r:embed="rId9"/>
                <a:stretch>
                  <a:fillRect r="-10501" b="-104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968227" y="29340805"/>
                <a:ext cx="4802533" cy="9221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𝐴𝑐𝑐𝑢𝑟𝑎𝑐𝑦</m:t>
                      </m:r>
                      <m:r>
                        <a:rPr lang="en-US" sz="2400" i="1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1 − </m:t>
                          </m:r>
                          <m:f>
                            <m:fPr>
                              <m:ctrlPr>
                                <a:rPr lang="en-US" sz="24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/>
                                </a:rPr>
                                <m:t>𝐸</m:t>
                              </m:r>
                            </m:num>
                            <m:den>
                              <m:r>
                                <a:rPr lang="en-US" sz="2400" i="1">
                                  <a:latin typeface="Cambria Math"/>
                                </a:rPr>
                                <m:t>𝑑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𝑎𝑐𝑡𝑢𝑎𝑙</m:t>
                              </m:r>
                              <m:r>
                                <a:rPr lang="en-US" sz="2400" i="1">
                                  <a:latin typeface="Cambria Math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m:rPr>
                          <m:nor/>
                        </m:rPr>
                        <a:rPr lang="en-US" sz="2400"/>
                        <m:t>×100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8227" y="29340805"/>
                <a:ext cx="4802533" cy="922176"/>
              </a:xfrm>
              <a:prstGeom prst="rect">
                <a:avLst/>
              </a:prstGeom>
              <a:blipFill rotWithShape="1">
                <a:blip r:embed="rId10"/>
                <a:stretch>
                  <a:fillRect r="-2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8700117" y="27469484"/>
                <a:ext cx="218559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/>
                        </a:rPr>
                        <m:t>𝑦</m:t>
                      </m:r>
                      <m:r>
                        <a:rPr lang="en-US" sz="3200" i="1" smtClean="0">
                          <a:latin typeface="Cambria Math"/>
                        </a:rPr>
                        <m:t>=</m:t>
                      </m:r>
                      <m:r>
                        <a:rPr lang="en-US" sz="3200" b="0" i="1" smtClean="0">
                          <a:latin typeface="Cambria Math"/>
                        </a:rPr>
                        <m:t>𝑑</m:t>
                      </m:r>
                      <m:r>
                        <a:rPr lang="en-US" sz="3200" b="0" i="1" smtClean="0">
                          <a:latin typeface="Cambria Math"/>
                        </a:rPr>
                        <m:t> </m:t>
                      </m:r>
                      <m:r>
                        <a:rPr lang="en-US" sz="3200" b="0" i="1" smtClean="0">
                          <a:latin typeface="Cambria Math"/>
                        </a:rPr>
                        <m:t>𝑠𝑖𝑛</m:t>
                      </m:r>
                      <m:r>
                        <a:rPr lang="en-US" sz="3200" b="0" i="1" smtClean="0"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117" y="27469484"/>
                <a:ext cx="2185598" cy="584775"/>
              </a:xfrm>
              <a:prstGeom prst="rect">
                <a:avLst/>
              </a:prstGeom>
              <a:blipFill rotWithShape="1">
                <a:blip r:embed="rId11"/>
                <a:stretch>
                  <a:fillRect t="-13542" r="-863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7153154" y="25996739"/>
            <a:ext cx="184731" cy="42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25017" y="28400624"/>
                <a:ext cx="562904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/>
                        </a:rPr>
                        <m:t>𝐸</m:t>
                      </m:r>
                      <m:r>
                        <a:rPr lang="en-US" sz="3200" i="1">
                          <a:latin typeface="Cambria Math"/>
                        </a:rPr>
                        <m:t>= 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2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/>
                            </a:rPr>
                            <m:t>𝑑𝑎𝑐𝑡𝑢𝑎𝑙</m:t>
                          </m:r>
                          <m:r>
                            <a:rPr lang="en-US" sz="3200" i="1">
                              <a:latin typeface="Cambria Math"/>
                            </a:rPr>
                            <m:t> −</m:t>
                          </m:r>
                          <m:r>
                            <a:rPr lang="en-US" sz="3200" i="1">
                              <a:latin typeface="Cambria Math"/>
                            </a:rPr>
                            <m:t>𝑑</m:t>
                          </m:r>
                          <m:r>
                            <a:rPr lang="en-US" sz="3200" i="1">
                              <a:latin typeface="Cambria Math"/>
                            </a:rPr>
                            <m:t> </m:t>
                          </m:r>
                          <m:r>
                            <a:rPr lang="en-US" sz="3200" i="1">
                              <a:latin typeface="Cambria Math"/>
                            </a:rPr>
                            <m:t>𝑚𝑒𝑎𝑠𝑢𝑟𝑒𝑑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017" y="28400624"/>
                <a:ext cx="5629040" cy="584775"/>
              </a:xfrm>
              <a:prstGeom prst="rect">
                <a:avLst/>
              </a:prstGeom>
              <a:blipFill rotWithShape="1">
                <a:blip r:embed="rId12"/>
                <a:stretch>
                  <a:fillRect t="-13542" r="-303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70301" y="26470739"/>
                <a:ext cx="693516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𝑠𝑒𝑟𝑣𝑜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𝑟𝑜𝑡𝑎𝑡𝑖𝑜𝑛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𝑎𝑛𝑔𝑙𝑒</m:t>
                      </m:r>
                      <m:r>
                        <a:rPr lang="en-US" sz="3200" i="1">
                          <a:latin typeface="Cambria Math"/>
                          <a:ea typeface="Cambria Math"/>
                        </a:rPr>
                        <m:t>(0°−180°)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0301" y="26470739"/>
                <a:ext cx="6935168" cy="584775"/>
              </a:xfrm>
              <a:prstGeom prst="rect">
                <a:avLst/>
              </a:prstGeom>
              <a:blipFill rotWithShape="1">
                <a:blip r:embed="rId13"/>
                <a:stretch>
                  <a:fillRect t="-13542" r="-2373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770760" y="24626657"/>
            <a:ext cx="31149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where v=343 </a:t>
            </a:r>
            <a:r>
              <a:rPr lang="en-US" sz="2000" dirty="0" smtClean="0"/>
              <a:t>m/s  t </a:t>
            </a:r>
            <a:r>
              <a:rPr lang="en-US" sz="2000" dirty="0"/>
              <a:t>= echo time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37824" y="30496890"/>
                <a:ext cx="4521815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Decision Model (Alert System</a:t>
                </a:r>
                <a:r>
                  <a:rPr lang="en-US" sz="2400" b="1" dirty="0" smtClean="0"/>
                  <a:t>):</a:t>
                </a:r>
                <a:endParaRPr lang="en-US" sz="240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𝑑</m:t>
                    </m:r>
                    <m:r>
                      <a:rPr lang="en-US" sz="2400" i="1">
                        <a:latin typeface="Cambria Math"/>
                      </a:rPr>
                      <m:t>&lt;10 </m:t>
                    </m:r>
                    <m:r>
                      <a:rPr lang="en-US" sz="2400" i="1">
                        <a:latin typeface="Cambria Math"/>
                      </a:rPr>
                      <m:t>𝑐𝑚</m:t>
                    </m:r>
                  </m:oMath>
                </a14:m>
                <a:r>
                  <a:rPr lang="en-US" sz="2400" dirty="0"/>
                  <a:t> → Red LED + Buzzer </a:t>
                </a:r>
                <a:endParaRPr lang="en-US" sz="2400" i="1" dirty="0" smtClean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10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&lt;30 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sz="2400" dirty="0"/>
                  <a:t>→ Yellow </a:t>
                </a:r>
                <a:r>
                  <a:rPr lang="en-US" sz="2400" dirty="0" smtClean="0"/>
                  <a:t>Alert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30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𝑑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&lt;50 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𝑐𝑚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en-US" sz="2400" dirty="0"/>
                  <a:t>→ Green </a:t>
                </a:r>
                <a:r>
                  <a:rPr lang="en-US" sz="2400" dirty="0" smtClean="0"/>
                  <a:t>Indicator</a:t>
                </a:r>
                <a:endParaRPr lang="en-US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824" y="30496890"/>
                <a:ext cx="4521815" cy="1569660"/>
              </a:xfrm>
              <a:prstGeom prst="rect">
                <a:avLst/>
              </a:prstGeom>
              <a:blipFill rotWithShape="1">
                <a:blip r:embed="rId14"/>
                <a:stretch>
                  <a:fillRect l="-2022" t="-3113" r="-2695" b="-8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AABAC9"/>
      </a:lt1>
      <a:dk2>
        <a:srgbClr val="000000"/>
      </a:dk2>
      <a:lt2>
        <a:srgbClr val="808080"/>
      </a:lt2>
      <a:accent1>
        <a:srgbClr val="D7D7D7"/>
      </a:accent1>
      <a:accent2>
        <a:srgbClr val="003466"/>
      </a:accent2>
      <a:accent3>
        <a:srgbClr val="D2D9E1"/>
      </a:accent3>
      <a:accent4>
        <a:srgbClr val="000000"/>
      </a:accent4>
      <a:accent5>
        <a:srgbClr val="E8E8E8"/>
      </a:accent5>
      <a:accent6>
        <a:srgbClr val="002E5C"/>
      </a:accent6>
      <a:hlink>
        <a:srgbClr val="008000"/>
      </a:hlink>
      <a:folHlink>
        <a:srgbClr val="800000"/>
      </a:folHlink>
    </a:clrScheme>
    <a:fontScheme name="Custom Design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389438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AABAC9"/>
        </a:lt1>
        <a:dk2>
          <a:srgbClr val="000000"/>
        </a:dk2>
        <a:lt2>
          <a:srgbClr val="808080"/>
        </a:lt2>
        <a:accent1>
          <a:srgbClr val="D7D7D7"/>
        </a:accent1>
        <a:accent2>
          <a:srgbClr val="003466"/>
        </a:accent2>
        <a:accent3>
          <a:srgbClr val="D2D9E1"/>
        </a:accent3>
        <a:accent4>
          <a:srgbClr val="000000"/>
        </a:accent4>
        <a:accent5>
          <a:srgbClr val="E8E8E8"/>
        </a:accent5>
        <a:accent6>
          <a:srgbClr val="002E5C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603000"/>
        </a:dk1>
        <a:lt1>
          <a:srgbClr val="CF9860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603000"/>
        </a:accent2>
        <a:accent3>
          <a:srgbClr val="E4CAB6"/>
        </a:accent3>
        <a:accent4>
          <a:srgbClr val="512700"/>
        </a:accent4>
        <a:accent5>
          <a:srgbClr val="FFFFE4"/>
        </a:accent5>
        <a:accent6>
          <a:srgbClr val="56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505750"/>
        </a:dk1>
        <a:lt1>
          <a:srgbClr val="FFFFFF"/>
        </a:lt1>
        <a:dk2>
          <a:srgbClr val="000000"/>
        </a:dk2>
        <a:lt2>
          <a:srgbClr val="808080"/>
        </a:lt2>
        <a:accent1>
          <a:srgbClr val="DFDFDF"/>
        </a:accent1>
        <a:accent2>
          <a:srgbClr val="9F3000"/>
        </a:accent2>
        <a:accent3>
          <a:srgbClr val="FFFFFF"/>
        </a:accent3>
        <a:accent4>
          <a:srgbClr val="434943"/>
        </a:accent4>
        <a:accent5>
          <a:srgbClr val="ECECEC"/>
        </a:accent5>
        <a:accent6>
          <a:srgbClr val="902A00"/>
        </a:accent6>
        <a:hlink>
          <a:srgbClr val="C21414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3A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CF"/>
        </a:accent1>
        <a:accent2>
          <a:srgbClr val="9F0000"/>
        </a:accent2>
        <a:accent3>
          <a:srgbClr val="FFFFFF"/>
        </a:accent3>
        <a:accent4>
          <a:srgbClr val="300000"/>
        </a:accent4>
        <a:accent5>
          <a:srgbClr val="FFFFE4"/>
        </a:accent5>
        <a:accent6>
          <a:srgbClr val="90000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2336"/>
        </a:dk1>
        <a:lt1>
          <a:srgbClr val="E8F0F8"/>
        </a:lt1>
        <a:dk2>
          <a:srgbClr val="000000"/>
        </a:dk2>
        <a:lt2>
          <a:srgbClr val="808080"/>
        </a:lt2>
        <a:accent1>
          <a:srgbClr val="FFFFEF"/>
        </a:accent1>
        <a:accent2>
          <a:srgbClr val="00679F"/>
        </a:accent2>
        <a:accent3>
          <a:srgbClr val="F2F6FB"/>
        </a:accent3>
        <a:accent4>
          <a:srgbClr val="001C2D"/>
        </a:accent4>
        <a:accent5>
          <a:srgbClr val="FFFFF6"/>
        </a:accent5>
        <a:accent6>
          <a:srgbClr val="005D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2336"/>
        </a:dk1>
        <a:lt1>
          <a:srgbClr val="C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3060"/>
        </a:accent2>
        <a:accent3>
          <a:srgbClr val="E4E4FF"/>
        </a:accent3>
        <a:accent4>
          <a:srgbClr val="001C2D"/>
        </a:accent4>
        <a:accent5>
          <a:srgbClr val="FFFFFF"/>
        </a:accent5>
        <a:accent6>
          <a:srgbClr val="002A56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4B4B4B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434343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0000"/>
        </a:dk1>
        <a:lt1>
          <a:srgbClr val="E3DABB"/>
        </a:lt1>
        <a:dk2>
          <a:srgbClr val="000000"/>
        </a:dk2>
        <a:lt2>
          <a:srgbClr val="808080"/>
        </a:lt2>
        <a:accent1>
          <a:srgbClr val="EAEAEA"/>
        </a:accent1>
        <a:accent2>
          <a:srgbClr val="065290"/>
        </a:accent2>
        <a:accent3>
          <a:srgbClr val="EFEADA"/>
        </a:accent3>
        <a:accent4>
          <a:srgbClr val="000000"/>
        </a:accent4>
        <a:accent5>
          <a:srgbClr val="F3F3F3"/>
        </a:accent5>
        <a:accent6>
          <a:srgbClr val="054982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9">
        <a:dk1>
          <a:srgbClr val="00009F"/>
        </a:dk1>
        <a:lt1>
          <a:srgbClr val="FFC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60009F"/>
        </a:accent2>
        <a:accent3>
          <a:srgbClr val="FFE4FF"/>
        </a:accent3>
        <a:accent4>
          <a:srgbClr val="000087"/>
        </a:accent4>
        <a:accent5>
          <a:srgbClr val="FFFFFF"/>
        </a:accent5>
        <a:accent6>
          <a:srgbClr val="560090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003000"/>
        </a:dk1>
        <a:lt1>
          <a:srgbClr val="9FCF9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006730"/>
        </a:accent2>
        <a:accent3>
          <a:srgbClr val="CDE4CD"/>
        </a:accent3>
        <a:accent4>
          <a:srgbClr val="002700"/>
        </a:accent4>
        <a:accent5>
          <a:srgbClr val="FFFFFF"/>
        </a:accent5>
        <a:accent6>
          <a:srgbClr val="005D2A"/>
        </a:accent6>
        <a:hlink>
          <a:srgbClr val="028418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000000"/>
        </a:dk1>
        <a:lt1>
          <a:srgbClr val="FFFFD5"/>
        </a:lt1>
        <a:dk2>
          <a:srgbClr val="000000"/>
        </a:dk2>
        <a:lt2>
          <a:srgbClr val="808080"/>
        </a:lt2>
        <a:accent1>
          <a:srgbClr val="D7DFCF"/>
        </a:accent1>
        <a:accent2>
          <a:srgbClr val="661600"/>
        </a:accent2>
        <a:accent3>
          <a:srgbClr val="FFFFE7"/>
        </a:accent3>
        <a:accent4>
          <a:srgbClr val="000000"/>
        </a:accent4>
        <a:accent5>
          <a:srgbClr val="E8ECE4"/>
        </a:accent5>
        <a:accent6>
          <a:srgbClr val="5C1300"/>
        </a:accent6>
        <a:hlink>
          <a:srgbClr val="008000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8356</TotalTime>
  <Words>666</Words>
  <Application>Microsoft Office PowerPoint</Application>
  <PresentationFormat>Custom</PresentationFormat>
  <Paragraphs>121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Custom Design</vt:lpstr>
      <vt:lpstr>PowerPoint Presentation</vt:lpstr>
    </vt:vector>
  </TitlesOfParts>
  <Company>www.posterpresentations.com</Company>
  <LinksUpToDate>false</LinksUpToDate>
  <SharedDoc>false</SharedDoc>
  <HyperlinkBase>http://www.posterpresentations.com</HyperlinkBase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91.5x122 cm Poster Template</dc:title>
  <dc:subject>Free PowerPoint poster templates</dc:subject>
  <dc:creator>Sultan</dc:creator>
  <cp:keywords>poster presentation, poster design, poster template</cp:keywords>
  <dc:description>Call us if you need help with this poster template._x000d_
1-866-649-3004           _x000d_
 (c)PosterPresentations.com</dc:description>
  <cp:lastModifiedBy>Dell</cp:lastModifiedBy>
  <cp:revision>237</cp:revision>
  <dcterms:created xsi:type="dcterms:W3CDTF">2005-05-18T01:24:28Z</dcterms:created>
  <dcterms:modified xsi:type="dcterms:W3CDTF">2026-06-15T14:22:23Z</dcterms:modified>
  <cp:category>Powerpoint poster templates</cp:category>
</cp:coreProperties>
</file>